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1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58.png"/><Relationship Id="rId3" Type="http://schemas.openxmlformats.org/officeDocument/2006/relationships/image" Target="../media/image24.png"/><Relationship Id="rId7" Type="http://schemas.openxmlformats.org/officeDocument/2006/relationships/image" Target="../media/image53.png"/><Relationship Id="rId12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5" Type="http://schemas.openxmlformats.org/officeDocument/2006/relationships/image" Target="../media/image60.png"/><Relationship Id="rId10" Type="http://schemas.openxmlformats.org/officeDocument/2006/relationships/image" Target="../media/image55.png"/><Relationship Id="rId4" Type="http://schemas.openxmlformats.org/officeDocument/2006/relationships/image" Target="../media/image25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8.png"/><Relationship Id="rId7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30.png"/><Relationship Id="rId4" Type="http://schemas.openxmlformats.org/officeDocument/2006/relationships/image" Target="../media/image79.png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5886450"/>
            <a:ext cx="605790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5593556"/>
            <a:ext cx="4419600" cy="8358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76250"/>
            <a:ext cx="657225" cy="35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676275"/>
            <a:ext cx="441960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639764"/>
            <a:ext cx="3367087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3001714"/>
            <a:ext cx="6360795" cy="7640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sz="2550" b="0" i="0" u="none">
                <a:solidFill>
                  <a:srgbClr val="0F172A"/>
                </a:solidFill>
                <a:latin typeface="Plus Jakarta Sans ExtraBold"/>
              </a:rPr>
              <a:t>NetSage AI: AI Deployment &amp; 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3861048"/>
            <a:ext cx="60579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For Cisco Network Troubleshooting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6048375"/>
            <a:ext cx="6057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Inter"/>
              </a:rPr>
              <a:t>DEGREE &amp; DEPARTMENT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6219825"/>
            <a:ext cx="60579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Inter"/>
              </a:rPr>
              <a:t>B.Tech (CSE) — School of Computer Science &amp;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0" y="428625"/>
            <a:ext cx="4419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DD3FC"/>
                </a:solidFill>
                <a:latin typeface="Inter"/>
              </a:rPr>
              <a:t>CANDIDATE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0" y="5745956"/>
            <a:ext cx="42005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0F2FE"/>
                </a:solidFill>
                <a:latin typeface="Plus Jakarta Sans"/>
              </a:rPr>
              <a:t>FACULTY 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5907881"/>
            <a:ext cx="4000500" cy="20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FFFFFF"/>
                </a:solidFill>
                <a:latin typeface="Inter"/>
              </a:rPr>
              <a:t>Prof. Swati Vashisht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6143625"/>
            <a:ext cx="4000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E0F2FE"/>
                </a:solidFill>
                <a:latin typeface="Inter"/>
              </a:rPr>
              <a:t>Instructor, IILM University &amp; Cisco Networking Academy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975" y="500062"/>
            <a:ext cx="1571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IILM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3975" y="661987"/>
            <a:ext cx="1571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Greater Noida, Uttar Pradesh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715964"/>
            <a:ext cx="138112" cy="104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10475" y="895350"/>
            <a:ext cx="41805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dirty="0">
                <a:solidFill>
                  <a:srgbClr val="FFFFFF"/>
                </a:solidFill>
                <a:latin typeface="Plus Jakarta Sans"/>
              </a:rPr>
              <a:t>Mohammad Amaan Aslam</a:t>
            </a:r>
            <a:endParaRPr sz="18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10475" y="1314450"/>
            <a:ext cx="1933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DD3FC"/>
                </a:solidFill>
                <a:latin typeface="Inter"/>
              </a:rPr>
              <a:t>ROLL 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0475" y="1447800"/>
            <a:ext cx="1933575" cy="155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 dirty="0">
                <a:solidFill>
                  <a:srgbClr val="FFFFFF"/>
                </a:solidFill>
                <a:latin typeface="Inter SemiBold"/>
              </a:rPr>
              <a:t>24100300</a:t>
            </a:r>
            <a:r>
              <a:rPr lang="en-US" sz="1012" b="0" i="0" u="none" dirty="0">
                <a:solidFill>
                  <a:srgbClr val="FFFFFF"/>
                </a:solidFill>
                <a:latin typeface="Inter SemiBold"/>
              </a:rPr>
              <a:t>89</a:t>
            </a:r>
            <a:endParaRPr sz="1012" b="0" i="0" u="none" dirty="0">
              <a:solidFill>
                <a:srgbClr val="FFFFFF"/>
              </a:solidFill>
              <a:latin typeface="Inter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58350" y="1314450"/>
            <a:ext cx="1933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DD3FC"/>
                </a:solidFill>
                <a:latin typeface="Inter"/>
              </a:rPr>
              <a:t>ACADEMIC BATCH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8350" y="1447800"/>
            <a:ext cx="19335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2" b="0" i="0" u="none">
                <a:solidFill>
                  <a:srgbClr val="FFFFFF"/>
                </a:solidFill>
                <a:latin typeface="Inter SemiBold"/>
              </a:rPr>
              <a:t>2026–2027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10400" y="0"/>
            <a:ext cx="51816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533775"/>
            <a:ext cx="5495925" cy="2943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3533775"/>
            <a:ext cx="5495925" cy="2943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250" y="-1333500"/>
            <a:ext cx="4286250" cy="2562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000375"/>
            <a:ext cx="309562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3790950"/>
            <a:ext cx="4890611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Student Profile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3425" y="4095750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53225" y="3790950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Project Verification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77000" y="4095750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814762"/>
            <a:ext cx="2286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425" y="426720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STUDENT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4400550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 dirty="0">
                <a:solidFill>
                  <a:srgbClr val="0F172A"/>
                </a:solidFill>
                <a:latin typeface="Inter SemiBold"/>
              </a:rPr>
              <a:t>Mohammad Amaan Aslam</a:t>
            </a:r>
            <a:endParaRPr sz="1050" b="0" i="0" u="none" dirty="0">
              <a:solidFill>
                <a:srgbClr val="0F172A"/>
              </a:solidFill>
              <a:latin typeface="Inter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3425" y="4657725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ROLL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4791075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0F172A"/>
                </a:solidFill>
                <a:latin typeface="Inter SemiBold"/>
              </a:rPr>
              <a:t>24100300</a:t>
            </a:r>
            <a:r>
              <a:rPr lang="en-US" sz="1050" b="0" i="0" u="none" dirty="0">
                <a:solidFill>
                  <a:srgbClr val="0F172A"/>
                </a:solidFill>
                <a:latin typeface="Inter SemiBold"/>
              </a:rPr>
              <a:t>89</a:t>
            </a:r>
            <a:endParaRPr sz="1050" b="0" i="0" u="none" dirty="0">
              <a:solidFill>
                <a:srgbClr val="0F172A"/>
              </a:solidFill>
              <a:latin typeface="Inter SemiBol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425" y="504825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DEGREE 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5181600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0F172A"/>
                </a:solidFill>
                <a:latin typeface="Inter SemiBold"/>
              </a:rPr>
              <a:t>Bachelor of Technology (</a:t>
            </a:r>
            <a:r>
              <a:rPr sz="1050" b="0" i="0" u="none" dirty="0" err="1">
                <a:solidFill>
                  <a:srgbClr val="0F172A"/>
                </a:solidFill>
                <a:latin typeface="Inter SemiBold"/>
              </a:rPr>
              <a:t>B.Tech</a:t>
            </a:r>
            <a:r>
              <a:rPr sz="1050" b="0" i="0" u="none" dirty="0">
                <a:solidFill>
                  <a:srgbClr val="0F172A"/>
                </a:solidFill>
                <a:latin typeface="Inter SemiBold"/>
              </a:rPr>
              <a:t>) in CSE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5438775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ACADEMIC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" y="5572125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2026–2027 Batch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582930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5962650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0F172A"/>
                </a:solidFill>
                <a:latin typeface="Inter SemiBold"/>
              </a:rPr>
              <a:t>IILM University, Greater Noida, U.P.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3814762"/>
            <a:ext cx="180975" cy="1809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7000" y="426720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PROJECT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4400550"/>
            <a:ext cx="49815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NetSage AI: AI Deployment &amp; Automation for Cisco Network Troubleshooting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0" y="481965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SPONSORING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7000" y="4953000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Cisco Networking Academy Virtual Internship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5210175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FACULTY SUPERVISOR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5343525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Prof. Swati Vashisht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7000" y="5600700"/>
            <a:ext cx="49815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Inter"/>
              </a:rPr>
              <a:t>DECLARATION SCOPE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7000" y="5734050"/>
            <a:ext cx="49815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SemiBold"/>
              </a:rPr>
              <a:t>Original work completed in partial fulfillment of B.Tech (CSE) degree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112" y="2943225"/>
            <a:ext cx="112918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Candidate Declaration &amp; Academic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2857500"/>
            <a:ext cx="54959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250" y="1809750"/>
            <a:ext cx="3810000" cy="1885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324100"/>
            <a:ext cx="185737" cy="2476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2857500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700" y="2990850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Global Technical Skill Leader: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Cisco Networking Academy provides structured IT, networking, cybersecurity, and modern AI curricula worldwide.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2857500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6250" y="3671887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700" y="3805237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Academic Partnership with IILM: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Direct collaboration providing hands-on lab environments and virtual internship projects to engineering undergraduates.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671887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6250" y="4486275"/>
            <a:ext cx="5495925" cy="88820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700" y="4619625"/>
            <a:ext cx="51530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Emerging AI &amp; Automation Domain: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Focuses on integrating modern AI frameworks with network telemetry, CLI diagnostics, and deterministic modeling.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4486275"/>
            <a:ext cx="38100" cy="88820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6250" y="5507831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700" y="5641181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Industry Standard Tools: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Hands-on training utilizing Cisco Packet Tracer, Cisco IOS CLI, Python automation scripts, and LLM prompt engineering.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6250" y="5507831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2867025"/>
            <a:ext cx="5476875" cy="3600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6287" y="2266950"/>
            <a:ext cx="1141571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Sponsoring Organization: Cisco Networking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28887"/>
            <a:ext cx="5495925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2528887"/>
            <a:ext cx="5495925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50" y="2786062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Plus Jakarta Sans"/>
              </a:rPr>
              <a:t>Root-Cause Isolation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425" y="3090862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3425" y="3262312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Inter"/>
              </a:rPr>
              <a:t>Junior network engineers frequently know isolated CLI commands but struggle to connect symptoms to exact root causes in multi-layer network environments (L1 to L7).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019550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7F1D1D"/>
                </a:solidFill>
                <a:latin typeface="Inter"/>
              </a:rPr>
              <a:t>When a host gets an IP but cannot reach a server, pinpointing whether the failure stems from VLAN tagging, gateway mismatches, DHCP relay drops, ACL blocks, or NAT pool exhaustion is time-consuming.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2786062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D48806"/>
                </a:solidFill>
                <a:latin typeface="Plus Jakarta Sans"/>
              </a:rPr>
              <a:t>Operational Risk of Unchecked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3090862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3262312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873800"/>
                </a:solidFill>
                <a:latin typeface="Inter"/>
              </a:rPr>
              <a:t>Fully autonomous AI models present severe enterprise risks if permitted to execute unverified CLI changes directly on production network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019550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873800"/>
                </a:solidFill>
                <a:latin typeface="Inter"/>
              </a:rPr>
              <a:t>NetSage AI resolves this by coupling structured AI recommendations with mandatory human-in-the-loop review and deterministic pre-validation.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809875"/>
            <a:ext cx="18097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809875"/>
            <a:ext cx="180975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Problem Statement: Multi-Layer Diagnostic Friction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89534"/>
            <a:ext cx="5534025" cy="16490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989534"/>
            <a:ext cx="5534025" cy="16490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10000"/>
            <a:ext cx="5534025" cy="16490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810000"/>
            <a:ext cx="5534025" cy="16490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208609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2761059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Scenario Dataset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046809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Build 30 real-world Cisco Packet Tracer lab cases representing complex Layer 1 through Layer 7 network failure scenarios.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208609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761059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Deterministic Rule 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46809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Develop Python script (`rule_checker.py`) to parse CLI text and immediately flag L1-L3 configuration errors prior to AI inference.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402907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325" y="4581525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3. Strict JSON Prompt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867275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Design prompt templates forcing LLMs to return strict JSON schema containing root cause, confidence score, CLI evidence, and fix steps.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029075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581525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4. Responsible AI Audit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67275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Maintain an audit log recording human review decisions (Accept, Edit, Reject) to enforce safety and prevent erroneous CLI changes.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625" y="2322909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91287" y="2322909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5337" y="4143375"/>
            <a:ext cx="2190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1287" y="4143375"/>
            <a:ext cx="23812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Core Project Objectives &amp; Pillars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1914525"/>
            <a:ext cx="549592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"/>
            <a:ext cx="271462" cy="2476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6250" y="1914525"/>
            <a:ext cx="5495925" cy="88820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7700" y="2047875"/>
            <a:ext cx="5153025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End-to-End AI Deployment Pipeline: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From multi-layer Cisco lab case synthesis to deterministic Python rule checks, prompt engineering, and executive dashboards.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250" y="1914525"/>
            <a:ext cx="38100" cy="88820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76250" y="2936081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700" y="3069431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Layer 2 &amp; Switching Protocols: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802.1Q trunking, VLAN tagging, Spanning Tree Protocol (STP), EtherChannel link aggregation, and port security.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6250" y="2936081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6250" y="3750468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" y="3883818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Layer 3 &amp; Routing Protocols: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Static routes, RIPv2, OSPF, EIGRP, HSRP gateway redundancy, and Subnetting / IP allocation.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" y="3750468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6250" y="4564856"/>
            <a:ext cx="5495925" cy="681037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700" y="4698206"/>
            <a:ext cx="5153025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087" b="1" i="0" u="none">
                <a:solidFill>
                  <a:srgbClr val="0F172A"/>
                </a:solidFill>
                <a:latin typeface="Inter"/>
              </a:rPr>
              <a:t>Layer 4-7 Services &amp; Security:</a:t>
            </a:r>
            <a:r>
              <a:rPr sz="1087" b="0" i="0" u="none">
                <a:solidFill>
                  <a:srgbClr val="334155"/>
                </a:solidFill>
                <a:latin typeface="Inter"/>
              </a:rPr>
              <a:t> Dynamic NAT/PAT, Standard &amp; Extended ACLs, DHCP Relays, DNS/Web server reachability, and Wireless/RADIUS.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4564856"/>
            <a:ext cx="38100" cy="681037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924050"/>
            <a:ext cx="5476875" cy="3600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2012" y="381000"/>
            <a:ext cx="113299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Technical Scope &amp; Protocol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812726"/>
            <a:ext cx="3619500" cy="18353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1812726"/>
            <a:ext cx="3619500" cy="18353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812726"/>
            <a:ext cx="3619500" cy="183534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800475"/>
            <a:ext cx="3619500" cy="183534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0" y="3800475"/>
            <a:ext cx="3619500" cy="183534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38150"/>
            <a:ext cx="271462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031801"/>
            <a:ext cx="419100" cy="419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5325" y="2584251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Input Data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870001"/>
            <a:ext cx="3181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Captures Packet Tracer symptoms, topology notes, and CLI `show` command outputs (`show run`, `show ip int brief`, `show ip route`).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5325" y="2031801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5325" y="2584251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Deterministic Rule Checker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325" y="2870001"/>
            <a:ext cx="3181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Python script (`rule_checker.py`) uses regular expressions to catch shutdown interfaces, duplicate IPs, and mismatched timers instantly.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5325" y="2031801"/>
            <a:ext cx="419100" cy="4191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15325" y="2584251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3. AI Prompt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5325" y="2870001"/>
            <a:ext cx="3181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Routes unflagged symptoms to prompt templates, enforcing strict JSON schema output with quoted evidence and verification commands.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4019550"/>
            <a:ext cx="419100" cy="4191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5325" y="4572000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4. Human Review Dashboard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857750"/>
            <a:ext cx="3181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Presents AI findings to a human engineer with options to 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Accept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, 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Edit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, or 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Reject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the recommended fix.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5325" y="4019550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5325" y="4572000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5. Audit &amp; Execution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325" y="4857750"/>
            <a:ext cx="3181350" cy="558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>
                <a:solidFill>
                  <a:srgbClr val="64748B"/>
                </a:solidFill>
                <a:latin typeface="Inter"/>
              </a:rPr>
              <a:t>Logs all decisions into the Responsible AI Audit Log and pushes human-approved CLI commands to network devices.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5812" y="2146101"/>
            <a:ext cx="23812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19625" y="2146101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9625" y="2146101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337" y="4133850"/>
            <a:ext cx="219075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43437" y="4133850"/>
            <a:ext cx="142875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2012" y="381000"/>
            <a:ext cx="113299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NetSage AI 5-Layer 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89534"/>
            <a:ext cx="5534025" cy="16490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989534"/>
            <a:ext cx="5534025" cy="16490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810000"/>
            <a:ext cx="5534025" cy="16490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810000"/>
            <a:ext cx="5534025" cy="16490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2208609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2761059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Simulation &amp;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046809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64748B"/>
                </a:solidFill>
                <a:latin typeface="Inter"/>
              </a:rPr>
              <a:t>Cisco Packet Tracer 8.x: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Network environment simulation.</a:t>
            </a:r>
            <a:r>
              <a:t>
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Cisco IOS CLI: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Command execution &amp; output capture.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208609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2761059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Programming &amp;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46809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64748B"/>
                </a:solidFill>
                <a:latin typeface="Inter"/>
              </a:rPr>
              <a:t>Python 3.8+: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`rule_checker.py` script.</a:t>
            </a:r>
            <a:r>
              <a:t>
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Pandas &amp; Regex: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Log parsing &amp; output validation.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4029075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325" y="4581525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AI &amp; LLM Architectures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867275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64748B"/>
                </a:solidFill>
                <a:latin typeface="Inter"/>
              </a:rPr>
              <a:t>Gemini &amp; ChatGPT: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Generative AI inference.</a:t>
            </a:r>
            <a:r>
              <a:t>
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JSON Schema: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Structured few-shot prompt templates.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029075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0" y="4581525"/>
            <a:ext cx="535066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Dashboard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67275"/>
            <a:ext cx="509587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64748B"/>
                </a:solidFill>
                <a:latin typeface="Inter"/>
              </a:rPr>
              <a:t>Microsoft Excel: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KPI blocks &amp; pivot charts.</a:t>
            </a:r>
            <a:r>
              <a:t>
</a:t>
            </a:r>
            <a:r>
              <a:rPr sz="1012" b="1" i="0" u="none">
                <a:solidFill>
                  <a:srgbClr val="64748B"/>
                </a:solidFill>
                <a:latin typeface="Inter"/>
              </a:rPr>
              <a:t>Responsible AI Log:</a:t>
            </a:r>
            <a:r>
              <a:rPr sz="1012" b="0" i="0" u="none">
                <a:solidFill>
                  <a:srgbClr val="64748B"/>
                </a:solidFill>
                <a:latin typeface="Inter"/>
              </a:rPr>
              <a:t> Human override record keeping.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2" y="2322909"/>
            <a:ext cx="2381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4625" y="2322909"/>
            <a:ext cx="17145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5812" y="4143375"/>
            <a:ext cx="2381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00812" y="4143375"/>
            <a:ext cx="21907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Technologies &amp; Technical Toolchain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204269"/>
            <a:ext cx="26670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668" y="3204269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7161" y="3204269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655" y="3204269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148" y="3204269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35641" y="3204269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50" y="3042344"/>
            <a:ext cx="1742033" cy="15543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5743" y="3042344"/>
            <a:ext cx="1742033" cy="155436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5236" y="3042344"/>
            <a:ext cx="1742033" cy="155436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4730" y="3042344"/>
            <a:ext cx="1742033" cy="155436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4223" y="3042344"/>
            <a:ext cx="1742033" cy="15543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3716" y="3042344"/>
            <a:ext cx="1742033" cy="15543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6250" y="438150"/>
            <a:ext cx="271462" cy="24765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25877" y="3800475"/>
            <a:ext cx="10340244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175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" y="3794819"/>
            <a:ext cx="1418183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Synthesized 30 Cisco Packet Tracer lab cases spanning L1–L7 fault scenarios.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7668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Prompt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7668" y="3794819"/>
            <a:ext cx="1418183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Engineered few-shot templates enforcing strict JSON schema responses.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7161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Rule 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7161" y="3794819"/>
            <a:ext cx="1418183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Built `rule_checker.py` script to instantly capture basic L1-L3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655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AI Diagnosis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655" y="3794819"/>
            <a:ext cx="1418183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Executed AI inference and compared diagnostic output against ground truth.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6148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Human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6148" y="3794819"/>
            <a:ext cx="1418183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Evaluated every AI diagnosis through mandatory human reviewer oversight.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5641" y="3566219"/>
            <a:ext cx="148909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Dashboarding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5641" y="3794819"/>
            <a:ext cx="1418183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Aggregated agreement metrics into Executive Excel KPI Dashboards.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2012" y="381000"/>
            <a:ext cx="113299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6-Step Project Execution Methodology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71550"/>
            <a:ext cx="11239500" cy="5505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555331"/>
            <a:ext cx="11239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1" u="none">
                <a:solidFill>
                  <a:srgbClr val="64748B"/>
                </a:solidFill>
                <a:latin typeface="Inter"/>
              </a:rPr>
              <a:t>Across 30 test cases, NetSage AI achieved an 83.3% initial agreement rate with human experts. The Python deterministic script flagged 10 basic cases before AI execution, saving inference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Quantitative Evaluation: Case Breakdown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71550"/>
            <a:ext cx="11239500" cy="5505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"/>
            <a:ext cx="271462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5126831"/>
            <a:ext cx="11239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1" u="none">
                <a:solidFill>
                  <a:srgbClr val="64748B"/>
                </a:solidFill>
                <a:latin typeface="Inter"/>
              </a:rPr>
              <a:t>The high agreement rate demonstrates robust prompt formatting, while the 16.7% edited/rejected subset highlights the necessity of human oversight in preventing bad CLI commands from executing.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012" y="381000"/>
            <a:ext cx="113299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Human Oversight &amp; Agreement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38150"/>
            <a:ext cx="185737" cy="24765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6250" y="2162175"/>
          <a:ext cx="11220448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Case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Reported Network Symptom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Corrected Root Cause &amp; Technical Audit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NET-005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Web page won't load; public IP ping works.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DC2626"/>
                          </a:solidFill>
                          <a:latin typeface="Inter"/>
                        </a:rPr>
                        <a:t>Rejected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Incorrect DNS server IP configured on client PC (192.168.1.250). AI missed client-side DNS setting.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NET-007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Guest Wi-Fi reaches corporate server.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DC2626"/>
                          </a:solidFill>
                          <a:latin typeface="Inter"/>
                        </a:rPr>
                        <a:t>Rejected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ACL BLOCK_GUEST permits traffic &amp; not bound to subinterface. AI suggested wrong ACL direction.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NET-013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SSH access denied from admin station.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D97706"/>
                          </a:solidFill>
                          <a:latin typeface="Inter"/>
                        </a:rPr>
                        <a:t>Edited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VTY ACL 10 restricts access to wrong host (.10 instead of .50). Human corrected host IP mask.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NET-020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HSRP fails to pre-empt back to R1.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D97706"/>
                          </a:solidFill>
                          <a:latin typeface="Inter"/>
                        </a:rPr>
                        <a:t>Edited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Missing `standby 1 preempt` command on R1. AI identified priority drop but missed preemption rule.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334155"/>
                          </a:solidFill>
                          <a:latin typeface="Inter"/>
                        </a:rPr>
                        <a:t>NET-027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Dynamic NAT pool exhausted for staff.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DC2626"/>
                          </a:solidFill>
                          <a:latin typeface="Inter"/>
                        </a:rPr>
                        <a:t>Rejected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334155"/>
                          </a:solidFill>
                          <a:latin typeface="Inter"/>
                        </a:rPr>
                        <a:t>Missing `overload` keyword in NAT source command (PAT). AI suggested adding more public IPs instead.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85775" y="3095625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07790" y="3095625"/>
            <a:ext cx="359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98268" y="3095625"/>
            <a:ext cx="1458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56784" y="3095625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5775" y="3638550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07790" y="3638550"/>
            <a:ext cx="359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198268" y="3638550"/>
            <a:ext cx="1458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56784" y="3638550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5775" y="4181475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07790" y="4181475"/>
            <a:ext cx="359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98268" y="4181475"/>
            <a:ext cx="1458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56784" y="4181475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5775" y="4724400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607790" y="4724400"/>
            <a:ext cx="359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98268" y="4724400"/>
            <a:ext cx="1458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56784" y="4724400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5775" y="5267325"/>
            <a:ext cx="11220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07790" y="5267325"/>
            <a:ext cx="359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98268" y="5267325"/>
            <a:ext cx="145851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56784" y="5267325"/>
            <a:ext cx="50494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6287" y="381000"/>
            <a:ext cx="1141571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Responsible AI Audit Log: Override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86483"/>
            <a:ext cx="3619500" cy="22755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2586483"/>
            <a:ext cx="3619500" cy="22755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586483"/>
            <a:ext cx="3619500" cy="22755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805558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3358008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Apply AI: Analyze Customer Reviews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643758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284C7"/>
                </a:solidFill>
                <a:latin typeface="Inter"/>
              </a:rPr>
              <a:t>Completed: 1</a:t>
            </a:r>
            <a:r>
              <a:rPr lang="en-US" sz="900" b="1" i="0" u="none" dirty="0">
                <a:solidFill>
                  <a:srgbClr val="0284C7"/>
                </a:solidFill>
                <a:latin typeface="Inter"/>
              </a:rPr>
              <a:t>0 </a:t>
            </a:r>
            <a:r>
              <a:rPr sz="900" b="1" i="0" u="none" dirty="0">
                <a:solidFill>
                  <a:srgbClr val="0284C7"/>
                </a:solidFill>
                <a:latin typeface="Inter"/>
              </a:rPr>
              <a:t>Jun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3862833"/>
            <a:ext cx="3181350" cy="432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 u="none" dirty="0">
                <a:solidFill>
                  <a:srgbClr val="64748B"/>
                </a:solidFill>
                <a:latin typeface="Inter"/>
              </a:rPr>
              <a:t>Certificate ID:</a:t>
            </a:r>
            <a:r>
              <a:rPr dirty="0"/>
              <a:t>
</a:t>
            </a:r>
            <a:r>
              <a:rPr sz="101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US" sz="1012" b="0" i="0" u="none" dirty="0">
                <a:solidFill>
                  <a:srgbClr val="64748B"/>
                </a:solidFill>
                <a:latin typeface="Inter"/>
              </a:rPr>
              <a:t>87fae7a2-55d8-475d-a39a-b52a5cda316c</a:t>
            </a:r>
            <a:endParaRPr sz="1012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5325" y="4311699"/>
            <a:ext cx="318135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Offered by IILM University through Cisco Networking Academy program.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5325" y="2805558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05325" y="3358008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Data Analytics Essentials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325" y="3643758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284C7"/>
                </a:solidFill>
                <a:latin typeface="Inter"/>
              </a:rPr>
              <a:t>Completed: 1</a:t>
            </a:r>
            <a:r>
              <a:rPr lang="en-US" sz="900" b="1" i="0" u="none" dirty="0">
                <a:solidFill>
                  <a:srgbClr val="0284C7"/>
                </a:solidFill>
                <a:latin typeface="Inter"/>
              </a:rPr>
              <a:t>1 </a:t>
            </a:r>
            <a:r>
              <a:rPr sz="900" b="1" i="0" u="none" dirty="0">
                <a:solidFill>
                  <a:srgbClr val="0284C7"/>
                </a:solidFill>
                <a:latin typeface="Inter"/>
              </a:rPr>
              <a:t>Jun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325" y="3862833"/>
            <a:ext cx="3181350" cy="432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2" b="1" i="0" u="none" dirty="0">
                <a:solidFill>
                  <a:srgbClr val="64748B"/>
                </a:solidFill>
                <a:latin typeface="Inter"/>
              </a:rPr>
              <a:t>Certificate ID:</a:t>
            </a:r>
            <a:r>
              <a:rPr dirty="0"/>
              <a:t>
</a:t>
            </a:r>
            <a:r>
              <a:rPr sz="101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US" sz="1012" b="0" i="0" u="none" dirty="0">
                <a:solidFill>
                  <a:srgbClr val="64748B"/>
                </a:solidFill>
                <a:latin typeface="Inter"/>
              </a:rPr>
              <a:t>d7eac08d-3bc6-4068-8894-2ef8a93c6024</a:t>
            </a:r>
            <a:endParaRPr sz="1012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5325" y="4311699"/>
            <a:ext cx="318135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Offered by IILM University through Cisco Networking Academy program.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5" y="2805558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15325" y="3358008"/>
            <a:ext cx="334041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Introduction to Modern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643758"/>
            <a:ext cx="3181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284C7"/>
                </a:solidFill>
                <a:latin typeface="Inter"/>
              </a:rPr>
              <a:t>Completed: 1</a:t>
            </a:r>
            <a:r>
              <a:rPr lang="en-US" sz="900" b="1" i="0" u="none" dirty="0">
                <a:solidFill>
                  <a:srgbClr val="0284C7"/>
                </a:solidFill>
                <a:latin typeface="Inter"/>
              </a:rPr>
              <a:t>1 </a:t>
            </a:r>
            <a:r>
              <a:rPr sz="900" b="1" i="0" u="none" dirty="0">
                <a:solidFill>
                  <a:srgbClr val="0284C7"/>
                </a:solidFill>
                <a:latin typeface="Inter"/>
              </a:rPr>
              <a:t>Jun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5325" y="3862833"/>
            <a:ext cx="3181350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 dirty="0">
                <a:solidFill>
                  <a:srgbClr val="64748B"/>
                </a:solidFill>
                <a:latin typeface="Inter"/>
              </a:rPr>
              <a:t>Certificate ID:</a:t>
            </a:r>
            <a:r>
              <a:rPr dirty="0"/>
              <a:t>
</a:t>
            </a:r>
            <a:r>
              <a:rPr sz="1012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lang="en-US" sz="1012" b="0" i="0" u="none" dirty="0">
                <a:solidFill>
                  <a:srgbClr val="64748B"/>
                </a:solidFill>
                <a:latin typeface="Inter"/>
              </a:rPr>
              <a:t>a72f4179-688f-4f41-9c7b-5f91a4e2cf31</a:t>
            </a:r>
            <a:endParaRPr sz="1012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15325" y="4311699"/>
            <a:ext cx="3181350" cy="33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Offered by IILM University through Cisco Networking Academy program.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2" y="2919858"/>
            <a:ext cx="2381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625" y="2919858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625" y="2919858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Completed Cisco Networking Academy Courses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45568"/>
            <a:ext cx="5495925" cy="2157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2645568"/>
            <a:ext cx="5495925" cy="2157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38150"/>
            <a:ext cx="242887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0600" y="2902743"/>
            <a:ext cx="496062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Plus Jakarta Sans"/>
              </a:rPr>
              <a:t>Deterministic Pre-Check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425" y="3207543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3425" y="3378993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4532D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14532D"/>
                </a:solidFill>
                <a:latin typeface="Inter"/>
              </a:rPr>
              <a:t>Syntax &amp; State Validation:</a:t>
            </a:r>
            <a:r>
              <a:rPr sz="1125" b="0" i="0" u="none">
                <a:solidFill>
                  <a:srgbClr val="14532D"/>
                </a:solidFill>
                <a:latin typeface="Inter"/>
              </a:rPr>
              <a:t> Regex rules in `rule_checker.py` detect shutdown ports, duplicate IPs, and timer mismatches instantly without API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117181"/>
            <a:ext cx="4981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4532D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14532D"/>
                </a:solidFill>
                <a:latin typeface="Inter"/>
              </a:rPr>
              <a:t>Pre-Inference Filtering:</a:t>
            </a:r>
            <a:r>
              <a:rPr sz="1125" b="0" i="0" u="none">
                <a:solidFill>
                  <a:srgbClr val="14532D"/>
                </a:solidFill>
                <a:latin typeface="Inter"/>
              </a:rPr>
              <a:t> Reduces LLM token usage and latency by filtering out 33.3% of routine Layer 1-3 configuration mistakes.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0850" y="2902743"/>
            <a:ext cx="4890611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1E40AF"/>
                </a:solidFill>
                <a:latin typeface="Plus Jakarta Sans"/>
              </a:rPr>
              <a:t>Mandatory Human Oversight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3207543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7000" y="3378993"/>
            <a:ext cx="4981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1E3A8A"/>
                </a:solidFill>
                <a:latin typeface="Inter"/>
              </a:rPr>
              <a:t>No Unassisted CLI Pushes:</a:t>
            </a:r>
            <a:r>
              <a:rPr sz="1125" b="0" i="0" u="none">
                <a:solidFill>
                  <a:srgbClr val="1E3A8A"/>
                </a:solidFill>
                <a:latin typeface="Inter"/>
              </a:rPr>
              <a:t> Zero CLI commands are executed automatically on production nodes without engineer sign-off.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902868"/>
            <a:ext cx="4981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E3A8A"/>
                </a:solidFill>
                <a:latin typeface="Inter"/>
              </a:rPr>
              <a:t>• </a:t>
            </a:r>
            <a:r>
              <a:rPr sz="1125" b="1" i="0" u="none">
                <a:solidFill>
                  <a:srgbClr val="1E3A8A"/>
                </a:solidFill>
                <a:latin typeface="Inter"/>
              </a:rPr>
              <a:t>Auditability:</a:t>
            </a:r>
            <a:r>
              <a:rPr sz="1125" b="0" i="0" u="none">
                <a:solidFill>
                  <a:srgbClr val="1E3A8A"/>
                </a:solidFill>
                <a:latin typeface="Inter"/>
              </a:rPr>
              <a:t> Every override action is permanently recorded in the audit log, creating a feedback loop for prompt refinements.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2926556"/>
            <a:ext cx="1619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926556"/>
            <a:ext cx="228600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3437" y="381000"/>
            <a:ext cx="11358562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Responsible AI Safety &amp; Guardrails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97943"/>
            <a:ext cx="549592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5" y="2597943"/>
            <a:ext cx="5495925" cy="22526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38150"/>
            <a:ext cx="271462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9650" y="2855118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Project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3425" y="3159918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3425" y="3331368"/>
            <a:ext cx="49815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30 multi-layer Cisco Packet Tracer lab cases with verified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3640931"/>
            <a:ext cx="49815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Python `rule_checker.py` script for deterministic CLI pattern matching.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950493"/>
            <a:ext cx="49815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Few-shot prompt engineering templates enforcing strict JSON schema.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260056"/>
            <a:ext cx="49815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Executive Excel dashboard &amp; Responsible AI audit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2855118"/>
            <a:ext cx="492061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Academic &amp; Industry 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0" y="3159918"/>
            <a:ext cx="49815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7000" y="3331368"/>
            <a:ext cx="49815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Fulfilled all requirements for B.Tech (CSE) degree at IILM University.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640931"/>
            <a:ext cx="4981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Achieved an 83.3% diagnostic agreement rate across complex network topologies.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164806"/>
            <a:ext cx="49815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Established a safe framework combining deterministic rules, LLM reasoning, and human safety oversight.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878931"/>
            <a:ext cx="180975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878931"/>
            <a:ext cx="200025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2012" y="381000"/>
            <a:ext cx="11329987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Key Outcomes &amp; Value Addition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3687" y="4150518"/>
            <a:ext cx="6524625" cy="600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2107406"/>
            <a:ext cx="571500" cy="571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5830" y="2850356"/>
            <a:ext cx="272034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0F172A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6062" y="3593306"/>
            <a:ext cx="6619875" cy="27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0284C7"/>
                </a:solidFill>
                <a:latin typeface="Inter SemiBold"/>
              </a:rPr>
              <a:t>NetSage AI: AI Deployment Automation for Cisco Network Troubleshooting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587" y="4369593"/>
            <a:ext cx="142875" cy="1619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4712" y="4369593"/>
            <a:ext cx="990600" cy="3345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087" b="0" i="0" u="none" dirty="0">
                <a:solidFill>
                  <a:srgbClr val="334155"/>
                </a:solidFill>
                <a:latin typeface="Inter SemiBold"/>
              </a:rPr>
              <a:t>Mohammad Amaan Aslam</a:t>
            </a:r>
            <a:endParaRPr sz="1087" b="0" i="0" u="none" dirty="0">
              <a:solidFill>
                <a:srgbClr val="334155"/>
              </a:solidFill>
              <a:latin typeface="Inter SemiBold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687" y="4369593"/>
            <a:ext cx="123825" cy="161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7762" y="4369593"/>
            <a:ext cx="1428750" cy="167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87" b="0" i="0" u="none" dirty="0">
                <a:solidFill>
                  <a:srgbClr val="334155"/>
                </a:solidFill>
                <a:latin typeface="Inter SemiBold"/>
              </a:rPr>
              <a:t>Roll No: 24100300</a:t>
            </a:r>
            <a:r>
              <a:rPr lang="en-US" sz="1087" b="0" i="0" u="none" dirty="0">
                <a:solidFill>
                  <a:srgbClr val="334155"/>
                </a:solidFill>
                <a:latin typeface="Inter SemiBold"/>
              </a:rPr>
              <a:t>89</a:t>
            </a:r>
            <a:endParaRPr sz="1087" b="0" i="0" u="none" dirty="0">
              <a:solidFill>
                <a:srgbClr val="334155"/>
              </a:solidFill>
              <a:latin typeface="Inter SemiBold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9887" y="4369593"/>
            <a:ext cx="161925" cy="1619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77062" y="4369593"/>
            <a:ext cx="2038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87" b="0" i="0" u="none">
                <a:solidFill>
                  <a:srgbClr val="334155"/>
                </a:solidFill>
                <a:latin typeface="Inter SemiBold"/>
              </a:rPr>
              <a:t>IILM University, Greater Noida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6250" y="2871787"/>
            <a:ext cx="112395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76250" y="3805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6250" y="3805237"/>
            <a:ext cx="112395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1003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1625" y="3014662"/>
            <a:ext cx="101441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https://www.cisco.com/c/dam/en/us/products/collateral/routers/5400-enterprise-network-compute-system/datasheet-c78-738512.docx/_jcr_content/renditions/datasheet-c78-738512_1.png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1625" y="3433762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www.cisco.com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9576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3964781"/>
            <a:ext cx="101441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https://ipcisco.com/wp-content/uploads/2020/04/Network-Topology-Architectures.jpg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198143"/>
            <a:ext cx="101441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ipcisco.com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" y="381000"/>
            <a:ext cx="11715750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0F172A"/>
                </a:solidFill>
                <a:latin typeface="Plus Jakarta Sans Extra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1536</Words>
  <Application>Microsoft Office PowerPoint</Application>
  <PresentationFormat>Widescreen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Inter</vt:lpstr>
      <vt:lpstr>Inter ExtraBold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Amaan Aslam</cp:lastModifiedBy>
  <cp:revision>2</cp:revision>
  <dcterms:created xsi:type="dcterms:W3CDTF">2013-01-27T09:14:16Z</dcterms:created>
  <dcterms:modified xsi:type="dcterms:W3CDTF">2026-08-30T11:16:21Z</dcterms:modified>
  <cp:category/>
</cp:coreProperties>
</file>